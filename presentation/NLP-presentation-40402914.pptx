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notesMasterIdLst>
    <p:notesMasterId r:id="rId16"/>
  </p:notesMasterIdLst>
  <p:sldIdLst>
    <p:sldId id="256" r:id="rId2"/>
    <p:sldId id="257" r:id="rId3"/>
    <p:sldId id="258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59" r:id="rId12"/>
    <p:sldId id="260" r:id="rId13"/>
    <p:sldId id="261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79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F5BF44-AA2E-49D1-972A-899A88CD5E10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7C0272-C0C6-4C14-A344-5F36891C4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5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7C0272-C0C6-4C14-A344-5F36891C46F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44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063978B-7B0A-4697-9658-E08A29C16D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5DD66CC6-9D47-4E4F-945A-87AA1A024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732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3978B-7B0A-4697-9658-E08A29C16D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66CC6-9D47-4E4F-945A-87AA1A024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015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3978B-7B0A-4697-9658-E08A29C16D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66CC6-9D47-4E4F-945A-87AA1A024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67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3978B-7B0A-4697-9658-E08A29C16D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66CC6-9D47-4E4F-945A-87AA1A024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2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3978B-7B0A-4697-9658-E08A29C16D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66CC6-9D47-4E4F-945A-87AA1A024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755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3978B-7B0A-4697-9658-E08A29C16D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66CC6-9D47-4E4F-945A-87AA1A024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88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3978B-7B0A-4697-9658-E08A29C16D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66CC6-9D47-4E4F-945A-87AA1A024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53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3978B-7B0A-4697-9658-E08A29C16D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66CC6-9D47-4E4F-945A-87AA1A024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454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3978B-7B0A-4697-9658-E08A29C16D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66CC6-9D47-4E4F-945A-87AA1A024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781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3978B-7B0A-4697-9658-E08A29C16D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66CC6-9D47-4E4F-945A-87AA1A024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354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3978B-7B0A-4697-9658-E08A29C16D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66CC6-9D47-4E4F-945A-87AA1A024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431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3978B-7B0A-4697-9658-E08A29C16D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66CC6-9D47-4E4F-945A-87AA1A0246DA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4966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3978B-7B0A-4697-9658-E08A29C16D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66CC6-9D47-4E4F-945A-87AA1A024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12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3978B-7B0A-4697-9658-E08A29C16D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66CC6-9D47-4E4F-945A-87AA1A024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8931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3978B-7B0A-4697-9658-E08A29C16D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66CC6-9D47-4E4F-945A-87AA1A024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6196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3978B-7B0A-4697-9658-E08A29C16D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66CC6-9D47-4E4F-945A-87AA1A024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6527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3978B-7B0A-4697-9658-E08A29C16D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66CC6-9D47-4E4F-945A-87AA1A024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343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63978B-7B0A-4697-9658-E08A29C16D78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66CC6-9D47-4E4F-945A-87AA1A024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01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  <p:sldLayoutId id="214748378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4.wdp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microsoft.com/office/2007/relationships/hdphoto" Target="../media/hdphoto7.wdp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microsoft.com/office/2007/relationships/hdphoto" Target="../media/hdphoto8.wdp"/><Relationship Id="rId7" Type="http://schemas.microsoft.com/office/2007/relationships/hdphoto" Target="../media/hdphoto10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microsoft.com/office/2007/relationships/hdphoto" Target="../media/hdphoto9.wdp"/><Relationship Id="rId4" Type="http://schemas.openxmlformats.org/officeDocument/2006/relationships/image" Target="../media/image11.png"/><Relationship Id="rId9" Type="http://schemas.microsoft.com/office/2007/relationships/hdphoto" Target="../media/hdphoto11.wdp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14403" y="2146044"/>
            <a:ext cx="4500464" cy="1000028"/>
          </a:xfrm>
        </p:spPr>
        <p:txBody>
          <a:bodyPr/>
          <a:lstStyle/>
          <a:p>
            <a:pPr algn="r" rtl="1"/>
            <a:r>
              <a:rPr lang="fa-IR" dirty="0" smtClean="0">
                <a:cs typeface="B Nazanin" panose="00000400000000000000" pitchFamily="2" charset="-78"/>
              </a:rPr>
              <a:t>تحلیل احساسات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49697" y="3592708"/>
            <a:ext cx="3707362" cy="1655762"/>
          </a:xfrm>
        </p:spPr>
        <p:txBody>
          <a:bodyPr>
            <a:noAutofit/>
          </a:bodyPr>
          <a:lstStyle/>
          <a:p>
            <a:pPr algn="r" rtl="1"/>
            <a:r>
              <a:rPr lang="fa-IR" sz="2400" b="1" dirty="0" smtClean="0">
                <a:solidFill>
                  <a:schemeClr val="tx1"/>
                </a:solidFill>
                <a:cs typeface="B Nazanin" panose="00000400000000000000" pitchFamily="2" charset="-78"/>
              </a:rPr>
              <a:t>آرش اصغری (40402914)</a:t>
            </a:r>
          </a:p>
          <a:p>
            <a:pPr algn="r" rtl="1"/>
            <a:r>
              <a:rPr lang="fa-IR" sz="2400" b="1" dirty="0" smtClean="0">
                <a:solidFill>
                  <a:schemeClr val="tx1"/>
                </a:solidFill>
                <a:cs typeface="B Nazanin" panose="00000400000000000000" pitchFamily="2" charset="-78"/>
              </a:rPr>
              <a:t>ارائه درس پردازش زبان طبیعی</a:t>
            </a:r>
          </a:p>
          <a:p>
            <a:pPr algn="r" rtl="1"/>
            <a:r>
              <a:rPr lang="fa-IR" sz="2400" b="1" dirty="0" smtClean="0">
                <a:solidFill>
                  <a:schemeClr val="tx1"/>
                </a:solidFill>
                <a:cs typeface="B Nazanin" panose="00000400000000000000" pitchFamily="2" charset="-78"/>
              </a:rPr>
              <a:t>استاد غیاثی‌راد</a:t>
            </a:r>
            <a:endParaRPr lang="en-US" sz="2400" b="1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178272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 smtClean="0">
                <a:cs typeface="B Nazanin" panose="00000400000000000000" pitchFamily="2" charset="-78"/>
              </a:rPr>
              <a:t>معرفی حوزه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4539" y="2097088"/>
            <a:ext cx="7604416" cy="3541714"/>
          </a:xfrm>
        </p:spPr>
        <p:txBody>
          <a:bodyPr>
            <a:normAutofit/>
          </a:bodyPr>
          <a:lstStyle/>
          <a:p>
            <a:pPr algn="r" rtl="1"/>
            <a:r>
              <a:rPr lang="fa-IR" dirty="0" smtClean="0">
                <a:cs typeface="B Nazanin" panose="00000400000000000000" pitchFamily="2" charset="-78"/>
              </a:rPr>
              <a:t>یکی از زیرشاخه‌های اصلی پردازش زبان طبیعی با هدف تعیین نگرش و احساسات واقعی نویسنده پشت کلمات</a:t>
            </a:r>
          </a:p>
          <a:p>
            <a:pPr algn="r" rtl="1"/>
            <a:r>
              <a:rPr lang="fa-IR" dirty="0" smtClean="0">
                <a:cs typeface="B Nazanin" panose="00000400000000000000" pitchFamily="2" charset="-78"/>
              </a:rPr>
              <a:t>دارای سه سطح تحلیل: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dirty="0" smtClean="0">
                <a:cs typeface="B Nazanin" panose="00000400000000000000" pitchFamily="2" charset="-78"/>
              </a:rPr>
              <a:t>تحلیل قطبیت: دسته‌بندی به مثبت، منفی و خنثی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dirty="0" smtClean="0">
                <a:cs typeface="B Nazanin" panose="00000400000000000000" pitchFamily="2" charset="-78"/>
              </a:rPr>
              <a:t>تشخیص نوع احساس: تشخیص حالات روحی، مانند خشم، شادی و ...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dirty="0" smtClean="0">
                <a:cs typeface="B Nazanin" panose="00000400000000000000" pitchFamily="2" charset="-78"/>
              </a:rPr>
              <a:t>بررسی دقیق: تشخیص شدت احساسات در کنار نوع حس </a:t>
            </a:r>
            <a:endParaRPr lang="fa-IR" dirty="0">
              <a:cs typeface="B Nazanin" panose="00000400000000000000" pitchFamily="2" charset="-78"/>
            </a:endParaRPr>
          </a:p>
          <a:p>
            <a:pPr algn="r" rtl="1"/>
            <a:r>
              <a:rPr lang="fa-IR" dirty="0" smtClean="0">
                <a:cs typeface="B Nazanin" panose="00000400000000000000" pitchFamily="2" charset="-78"/>
              </a:rPr>
              <a:t>استفاده از ابزارهای </a:t>
            </a:r>
            <a:r>
              <a:rPr lang="en-US" dirty="0" smtClean="0">
                <a:cs typeface="B Nazanin" panose="00000400000000000000" pitchFamily="2" charset="-78"/>
              </a:rPr>
              <a:t>NLP</a:t>
            </a:r>
            <a:r>
              <a:rPr lang="fa-IR" dirty="0" smtClean="0">
                <a:cs typeface="B Nazanin" panose="00000400000000000000" pitchFamily="2" charset="-78"/>
              </a:rPr>
              <a:t> به عنوان زیربنا انجام تحلیل‌های متنی </a:t>
            </a:r>
          </a:p>
          <a:p>
            <a:pPr algn="r" rtl="1">
              <a:buFont typeface="Courier New" panose="02070309020205020404" pitchFamily="49" charset="0"/>
              <a:buChar char="o"/>
            </a:pPr>
            <a:endParaRPr lang="fa-IR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748148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 smtClean="0">
                <a:cs typeface="B Nazanin" panose="00000400000000000000" pitchFamily="2" charset="-78"/>
              </a:rPr>
              <a:t>کاربردهای عملی تحلیل احساسات</a:t>
            </a:r>
            <a:endParaRPr lang="en-US" dirty="0">
              <a:cs typeface="B Nazanin" panose="00000400000000000000" pitchFamily="2" charset="-78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803" y="2041102"/>
            <a:ext cx="8335218" cy="2952056"/>
          </a:xfrm>
        </p:spPr>
      </p:pic>
      <p:sp>
        <p:nvSpPr>
          <p:cNvPr id="5" name="TextBox 4"/>
          <p:cNvSpPr txBox="1"/>
          <p:nvPr/>
        </p:nvSpPr>
        <p:spPr>
          <a:xfrm>
            <a:off x="2006081" y="5197121"/>
            <a:ext cx="8246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dirty="0" smtClean="0">
                <a:cs typeface="B Nazanin" panose="00000400000000000000" pitchFamily="2" charset="-78"/>
              </a:rPr>
              <a:t>به‌طور کلی در هر کجا که نیاز به فهم بازخورد کاربران می‌باشد، مدل‌های تحلیل احساسات نقش حیاتی دارند.</a:t>
            </a:r>
            <a:endParaRPr lang="en-US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422225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 smtClean="0">
                <a:cs typeface="B Nazanin" panose="00000400000000000000" pitchFamily="2" charset="-78"/>
              </a:rPr>
              <a:t>رویکردهای پیشنهادی:</a:t>
            </a:r>
            <a:endParaRPr lang="en-US" dirty="0">
              <a:cs typeface="B Nazanin" panose="00000400000000000000" pitchFamily="2" charset="-78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1446211" y="4749283"/>
            <a:ext cx="8229600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446211" y="4907901"/>
            <a:ext cx="8229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1. K. L. Tan, C. P. Lee, and K. M. Lim, "A Survey of Sentiment Analysis: Approaches, Datasets, and Future Research," </a:t>
            </a:r>
            <a:r>
              <a:rPr lang="en-US" sz="14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Applied Sciences</a:t>
            </a:r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vol. 13, no. 7, p. 4550, Apr. 2023.</a:t>
            </a:r>
          </a:p>
          <a:p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2. D. Anggraini, S. Rahmawati, and R. Kurniawan, "Natural Language Processing For Automatic Sentiment Analysis In Social Media Data," </a:t>
            </a:r>
            <a:r>
              <a:rPr lang="en-US" sz="14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International Journal of Intelligent Engineering and Systems</a:t>
            </a:r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vol. 1, no. 2, pp. 16-19, 2024.</a:t>
            </a:r>
          </a:p>
          <a:p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3. L. Huang, "Deep Learning for Text Sentiment Analysis: A Survey," in </a:t>
            </a:r>
            <a:r>
              <a:rPr lang="en-US" sz="14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Proceedings of the 2nd International Conference on Machine Learning and Automation</a:t>
            </a:r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2025, doi: 10.54254/2755-2721/104/20241153.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6211" y="2021218"/>
            <a:ext cx="93772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fa-IR" dirty="0" smtClean="0">
                <a:cs typeface="B Nazanin" panose="00000400000000000000" pitchFamily="2" charset="-78"/>
              </a:rPr>
              <a:t>در این ارائه، نتایج و متدولوژی‌های سه مقاله کلیدی           در حوزه تحلیل احساسات مورد بررسی قرار گرفته است.</a:t>
            </a:r>
          </a:p>
          <a:p>
            <a:pPr algn="r" rtl="1">
              <a:lnSpc>
                <a:spcPct val="150000"/>
              </a:lnSpc>
            </a:pPr>
            <a:r>
              <a:rPr lang="fa-IR" dirty="0" smtClean="0">
                <a:cs typeface="B Nazanin" panose="00000400000000000000" pitchFamily="2" charset="-78"/>
              </a:rPr>
              <a:t>در ادامه این رویکردها به ترتیب از ضعیف‌ترین مورد تا بهترین عملکرد به طور خلاصه معرفی می‌شوند.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10" name="Oval 9"/>
          <p:cNvSpPr/>
          <p:nvPr/>
        </p:nvSpPr>
        <p:spPr>
          <a:xfrm>
            <a:off x="7071878" y="2021218"/>
            <a:ext cx="182880" cy="182880"/>
          </a:xfrm>
          <a:prstGeom prst="ellipse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200" dirty="0" smtClean="0"/>
              <a:t>1</a:t>
            </a:r>
            <a:endParaRPr lang="en-US" sz="1200" dirty="0"/>
          </a:p>
        </p:txBody>
      </p:sp>
      <p:sp>
        <p:nvSpPr>
          <p:cNvPr id="11" name="Oval 10"/>
          <p:cNvSpPr/>
          <p:nvPr/>
        </p:nvSpPr>
        <p:spPr>
          <a:xfrm>
            <a:off x="6847977" y="2021218"/>
            <a:ext cx="182880" cy="182880"/>
          </a:xfrm>
          <a:prstGeom prst="ellipse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200" dirty="0"/>
              <a:t>2</a:t>
            </a:r>
            <a:endParaRPr lang="en-US" sz="1200" dirty="0"/>
          </a:p>
        </p:txBody>
      </p:sp>
      <p:sp>
        <p:nvSpPr>
          <p:cNvPr id="12" name="Oval 11"/>
          <p:cNvSpPr/>
          <p:nvPr/>
        </p:nvSpPr>
        <p:spPr>
          <a:xfrm>
            <a:off x="6624076" y="2018295"/>
            <a:ext cx="182880" cy="182880"/>
          </a:xfrm>
          <a:prstGeom prst="ellipse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200" dirty="0" smtClean="0"/>
              <a:t>3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701746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Nazanin" panose="00000400000000000000" pitchFamily="2" charset="-78"/>
              </a:rPr>
              <a:t>روش‌های مبتنی بر لغت‌نامه: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62971" y="2080896"/>
            <a:ext cx="926288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fa-IR" sz="2000" dirty="0" smtClean="0">
                <a:cs typeface="B Nazanin" panose="00000400000000000000" pitchFamily="2" charset="-78"/>
              </a:rPr>
              <a:t>استفاده از لغت‌نامه‌های پیش‌تعریف شده (مانند </a:t>
            </a:r>
            <a:r>
              <a:rPr lang="en-US" sz="2000" dirty="0" smtClean="0">
                <a:cs typeface="B Nazanin" panose="00000400000000000000" pitchFamily="2" charset="-78"/>
              </a:rPr>
              <a:t>SentiNetWord</a:t>
            </a:r>
            <a:r>
              <a:rPr lang="fa-IR" sz="2000" dirty="0" smtClean="0">
                <a:cs typeface="B Nazanin" panose="00000400000000000000" pitchFamily="2" charset="-78"/>
              </a:rPr>
              <a:t>) که به هر کلمه یک امتیاز مثبت یا منفی می‌دهند. امتیاز نهایی متن از مجموع امتیاز کلمات آن به دست می‌آید.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 smtClean="0">
                <a:cs typeface="B Nazanin" panose="00000400000000000000" pitchFamily="2" charset="-78"/>
              </a:rPr>
              <a:t>مزایا: پیاده‌سازی آسان و بدون نیاز به آموزش مدل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 smtClean="0">
                <a:cs typeface="B Nazanin" panose="00000400000000000000" pitchFamily="2" charset="-78"/>
              </a:rPr>
              <a:t>نقاط ضعف: عدم درک کنایه، زبان عامیانه و کلمات با معانی چندگانه در بافت‌های مختلف</a:t>
            </a:r>
          </a:p>
        </p:txBody>
      </p:sp>
    </p:spTree>
    <p:extLst>
      <p:ext uri="{BB962C8B-B14F-4D97-AF65-F5344CB8AC3E}">
        <p14:creationId xmlns:p14="http://schemas.microsoft.com/office/powerpoint/2010/main" val="28841109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Nazanin" panose="00000400000000000000" pitchFamily="2" charset="-78"/>
              </a:rPr>
              <a:t>یادگیری ماشین سنتی: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51281" y="1806576"/>
            <a:ext cx="937457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fa-IR" sz="2000" dirty="0" smtClean="0">
                <a:cs typeface="B Nazanin" panose="00000400000000000000" pitchFamily="2" charset="-78"/>
              </a:rPr>
              <a:t>رویکرد تبدیل متن به ویژگی‌های عددی (مانند </a:t>
            </a:r>
            <a:r>
              <a:rPr lang="en-US" sz="2000" dirty="0" smtClean="0">
                <a:cs typeface="B Nazanin" panose="00000400000000000000" pitchFamily="2" charset="-78"/>
              </a:rPr>
              <a:t>TF-IDF</a:t>
            </a:r>
            <a:r>
              <a:rPr lang="fa-IR" sz="2000" dirty="0" smtClean="0">
                <a:cs typeface="B Nazanin" panose="00000400000000000000" pitchFamily="2" charset="-78"/>
              </a:rPr>
              <a:t> یا </a:t>
            </a:r>
            <a:r>
              <a:rPr lang="en-US" sz="2000" dirty="0" smtClean="0">
                <a:cs typeface="B Nazanin" panose="00000400000000000000" pitchFamily="2" charset="-78"/>
              </a:rPr>
              <a:t>N-gram</a:t>
            </a:r>
            <a:r>
              <a:rPr lang="fa-IR" sz="2000" dirty="0" smtClean="0">
                <a:cs typeface="B Nazanin" panose="00000400000000000000" pitchFamily="2" charset="-78"/>
              </a:rPr>
              <a:t>) و آموزش الگوریتم‌های ریاضی روی داده‌های برچسب‌گذاری شده است.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 smtClean="0">
                <a:cs typeface="B Nazanin" panose="00000400000000000000" pitchFamily="2" charset="-78"/>
              </a:rPr>
              <a:t>الگوریتم‌های رایج: </a:t>
            </a:r>
            <a:r>
              <a:rPr lang="en-US" sz="2000" dirty="0" smtClean="0">
                <a:cs typeface="B Nazanin" panose="00000400000000000000" pitchFamily="2" charset="-78"/>
              </a:rPr>
              <a:t>Naive Bayes،</a:t>
            </a:r>
            <a:r>
              <a:rPr lang="fa-IR" sz="2000" dirty="0" smtClean="0">
                <a:cs typeface="B Nazanin" panose="00000400000000000000" pitchFamily="2" charset="-78"/>
              </a:rPr>
              <a:t> </a:t>
            </a:r>
            <a:r>
              <a:rPr lang="en-US" sz="2000" dirty="0" smtClean="0">
                <a:cs typeface="B Nazanin" panose="00000400000000000000" pitchFamily="2" charset="-78"/>
              </a:rPr>
              <a:t>SVM</a:t>
            </a:r>
            <a:r>
              <a:rPr lang="fa-IR" sz="2000" dirty="0" smtClean="0">
                <a:cs typeface="B Nazanin" panose="00000400000000000000" pitchFamily="2" charset="-78"/>
              </a:rPr>
              <a:t> و </a:t>
            </a:r>
            <a:r>
              <a:rPr lang="en-US" sz="2000" dirty="0" smtClean="0">
                <a:cs typeface="B Nazanin" panose="00000400000000000000" pitchFamily="2" charset="-78"/>
              </a:rPr>
              <a:t>Logistic Regression</a:t>
            </a:r>
            <a:endParaRPr lang="fa-IR" sz="2000" dirty="0" smtClean="0">
              <a:cs typeface="B Nazanin" panose="00000400000000000000" pitchFamily="2" charset="-78"/>
            </a:endParaRP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 smtClean="0">
                <a:cs typeface="B Nazanin" panose="00000400000000000000" pitchFamily="2" charset="-78"/>
              </a:rPr>
              <a:t>ویژگی: این روش‌ها انعطاف‌پذیرتر از لغت‌نامه هستند و می‌توانند با رفتار کاربران در پلتفرم‌های مختلف سازگار شوند، اما برای درک متون پیچیده کافی نیستند.</a:t>
            </a:r>
          </a:p>
          <a:p>
            <a:pPr algn="r" rtl="1">
              <a:lnSpc>
                <a:spcPct val="150000"/>
              </a:lnSpc>
            </a:pPr>
            <a:endParaRPr lang="fa-IR" sz="2000" dirty="0" smtClean="0">
              <a:cs typeface="B Nazanin" panose="00000400000000000000" pitchFamily="2" charset="-7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6752" y="3850639"/>
            <a:ext cx="3068128" cy="2479913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699000" y="4376420"/>
            <a:ext cx="777240" cy="0"/>
          </a:xfrm>
          <a:prstGeom prst="line">
            <a:avLst/>
          </a:prstGeom>
          <a:ln>
            <a:solidFill>
              <a:srgbClr val="C4794D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5400000">
            <a:off x="5421376" y="4419854"/>
            <a:ext cx="109728" cy="0"/>
          </a:xfrm>
          <a:prstGeom prst="line">
            <a:avLst/>
          </a:prstGeom>
          <a:ln>
            <a:solidFill>
              <a:srgbClr val="C4794D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88006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Nazanin" panose="00000400000000000000" pitchFamily="2" charset="-78"/>
              </a:rPr>
              <a:t>یادگیری عمیق: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51281" y="1806576"/>
            <a:ext cx="937457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 smtClean="0">
                <a:cs typeface="B Nazanin" panose="00000400000000000000" pitchFamily="2" charset="-78"/>
              </a:rPr>
              <a:t>شبکه‌های پیچشی (</a:t>
            </a:r>
            <a:r>
              <a:rPr lang="en-US" sz="2000" dirty="0" smtClean="0">
                <a:cs typeface="B Nazanin" panose="00000400000000000000" pitchFamily="2" charset="-78"/>
              </a:rPr>
              <a:t>CNN</a:t>
            </a:r>
            <a:r>
              <a:rPr lang="fa-IR" sz="2000" dirty="0" smtClean="0">
                <a:cs typeface="B Nazanin" panose="00000400000000000000" pitchFamily="2" charset="-78"/>
              </a:rPr>
              <a:t>): برای استخراج ویژگی‌های محلی و الگوهای خاص در متن (مانند ترکیبات خاص کلمات) استفاده می‌شود.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 smtClean="0">
                <a:cs typeface="B Nazanin" panose="00000400000000000000" pitchFamily="2" charset="-78"/>
              </a:rPr>
              <a:t>حافظه طولانی کوتاه‌مدت (</a:t>
            </a:r>
            <a:r>
              <a:rPr lang="en-US" sz="2000" dirty="0" smtClean="0">
                <a:cs typeface="B Nazanin" panose="00000400000000000000" pitchFamily="2" charset="-78"/>
              </a:rPr>
              <a:t>LSTM</a:t>
            </a:r>
            <a:r>
              <a:rPr lang="fa-IR" sz="2000" dirty="0" smtClean="0">
                <a:cs typeface="B Nazanin" panose="00000400000000000000" pitchFamily="2" charset="-78"/>
              </a:rPr>
              <a:t>):  به دلیل ساختار حافظه‌دار، می‌تواند توالی کلمات و روابط میان آن‌ها را در جملات طولانی درک کند.</a:t>
            </a:r>
          </a:p>
          <a:p>
            <a:pPr algn="r" rtl="1">
              <a:lnSpc>
                <a:spcPct val="150000"/>
              </a:lnSpc>
            </a:pPr>
            <a:r>
              <a:rPr lang="fa-IR" sz="2000" dirty="0" smtClean="0">
                <a:cs typeface="B Nazanin" panose="00000400000000000000" pitchFamily="2" charset="-78"/>
              </a:rPr>
              <a:t>تفاوت: این مدل‌ها به طور خودکار ویژگی‌ها را استخراج می‌کنند و نیاز به مهندسی دستی ویژگی‌ها را کاهش می‌دهند.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3742" y="4378021"/>
            <a:ext cx="3032760" cy="20345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1461" y="4565445"/>
            <a:ext cx="43205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8379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Nazanin" panose="00000400000000000000" pitchFamily="2" charset="-78"/>
              </a:rPr>
              <a:t>مدل‌های مبتنی بر ترنسفورمر: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51281" y="1806576"/>
            <a:ext cx="937457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fa-IR" sz="2000" dirty="0" smtClean="0">
                <a:cs typeface="B Nazanin" panose="00000400000000000000" pitchFamily="2" charset="-78"/>
              </a:rPr>
              <a:t>استفاده از مکانیزم توجه (</a:t>
            </a:r>
            <a:r>
              <a:rPr lang="en-US" sz="2000" dirty="0" smtClean="0">
                <a:cs typeface="B Nazanin" panose="00000400000000000000" pitchFamily="2" charset="-78"/>
              </a:rPr>
              <a:t>Attention</a:t>
            </a:r>
            <a:r>
              <a:rPr lang="fa-IR" sz="2000" dirty="0" smtClean="0">
                <a:cs typeface="B Nazanin" panose="00000400000000000000" pitchFamily="2" charset="-78"/>
              </a:rPr>
              <a:t>) برای درک دوطرفه معنای کلمات. </a:t>
            </a:r>
            <a:r>
              <a:rPr lang="en-US" sz="2000" dirty="0" smtClean="0">
                <a:cs typeface="B Nazanin" panose="00000400000000000000" pitchFamily="2" charset="-78"/>
              </a:rPr>
              <a:t>BERT</a:t>
            </a:r>
            <a:r>
              <a:rPr lang="fa-IR" sz="2000" dirty="0" smtClean="0">
                <a:cs typeface="B Nazanin" panose="00000400000000000000" pitchFamily="2" charset="-78"/>
              </a:rPr>
              <a:t> کلمات را بر اساس کلمات قبل و بعد از آن‌ها در کل جمله تحلیل می‌کند.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 smtClean="0">
                <a:cs typeface="B Nazanin" panose="00000400000000000000" pitchFamily="2" charset="-78"/>
              </a:rPr>
              <a:t>ویژگی کلیدی: توانایی بسیار بالا در درک بافتار (</a:t>
            </a:r>
            <a:r>
              <a:rPr lang="en-US" sz="2000" dirty="0" smtClean="0">
                <a:cs typeface="B Nazanin" panose="00000400000000000000" pitchFamily="2" charset="-78"/>
              </a:rPr>
              <a:t>Context</a:t>
            </a:r>
            <a:r>
              <a:rPr lang="fa-IR" sz="2000" dirty="0" smtClean="0">
                <a:cs typeface="B Nazanin" panose="00000400000000000000" pitchFamily="2" charset="-78"/>
              </a:rPr>
              <a:t>) و تفاوت‌های ظریف معنایی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 smtClean="0">
                <a:cs typeface="B Nazanin" panose="00000400000000000000" pitchFamily="2" charset="-78"/>
              </a:rPr>
              <a:t>عملکرد: در حال حاضر به عنوان استاندارد طلایی (</a:t>
            </a:r>
            <a:r>
              <a:rPr lang="en-US" sz="2000" dirty="0" smtClean="0">
                <a:cs typeface="B Nazanin" panose="00000400000000000000" pitchFamily="2" charset="-78"/>
              </a:rPr>
              <a:t>State-of-the-art</a:t>
            </a:r>
            <a:r>
              <a:rPr lang="fa-IR" sz="2000" dirty="0" smtClean="0">
                <a:cs typeface="B Nazanin" panose="00000400000000000000" pitchFamily="2" charset="-78"/>
              </a:rPr>
              <a:t>) در اکثر وظایف</a:t>
            </a:r>
            <a:r>
              <a:rPr lang="en-US" sz="2000" dirty="0" smtClean="0">
                <a:cs typeface="B Nazanin" panose="00000400000000000000" pitchFamily="2" charset="-78"/>
              </a:rPr>
              <a:t> encoding </a:t>
            </a:r>
            <a:r>
              <a:rPr lang="fa-IR" sz="2000" dirty="0" smtClean="0">
                <a:cs typeface="B Nazanin" panose="00000400000000000000" pitchFamily="2" charset="-78"/>
              </a:rPr>
              <a:t>شناخته می‌شود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294" y="4207233"/>
            <a:ext cx="4474236" cy="132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7002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Nazanin" panose="00000400000000000000" pitchFamily="2" charset="-78"/>
              </a:rPr>
              <a:t>مدل‌های ترکیبی و یادگیری جمعی: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51281" y="1806576"/>
            <a:ext cx="937457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 smtClean="0">
                <a:cs typeface="B Nazanin" panose="00000400000000000000" pitchFamily="2" charset="-78"/>
              </a:rPr>
              <a:t>مدل‌های ترکیبی (مانند </a:t>
            </a:r>
            <a:r>
              <a:rPr lang="en-US" sz="2000" dirty="0" smtClean="0">
                <a:cs typeface="B Nazanin" panose="00000400000000000000" pitchFamily="2" charset="-78"/>
              </a:rPr>
              <a:t>BERT-BiLSTM-CRF</a:t>
            </a:r>
            <a:r>
              <a:rPr lang="fa-IR" sz="2000" dirty="0" smtClean="0">
                <a:cs typeface="B Nazanin" panose="00000400000000000000" pitchFamily="2" charset="-78"/>
              </a:rPr>
              <a:t>): ترکیب قدرت درک زبانی </a:t>
            </a:r>
            <a:r>
              <a:rPr lang="en-US" sz="2000" dirty="0" smtClean="0">
                <a:cs typeface="B Nazanin" panose="00000400000000000000" pitchFamily="2" charset="-78"/>
              </a:rPr>
              <a:t>BERT</a:t>
            </a:r>
            <a:r>
              <a:rPr lang="fa-IR" sz="2000" dirty="0" smtClean="0">
                <a:cs typeface="B Nazanin" panose="00000400000000000000" pitchFamily="2" charset="-78"/>
              </a:rPr>
              <a:t> با قدرت تحلیل توالی </a:t>
            </a:r>
            <a:r>
              <a:rPr lang="en-US" sz="2000" dirty="0" smtClean="0">
                <a:cs typeface="B Nazanin" panose="00000400000000000000" pitchFamily="2" charset="-78"/>
              </a:rPr>
              <a:t>LSTM</a:t>
            </a:r>
            <a:r>
              <a:rPr lang="fa-IR" sz="2000" dirty="0" smtClean="0">
                <a:cs typeface="B Nazanin" panose="00000400000000000000" pitchFamily="2" charset="-78"/>
              </a:rPr>
              <a:t> برای رسیدن به دقت بالاتر در استخراج ویژگی‌های احساسی.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 smtClean="0">
                <a:cs typeface="B Nazanin" panose="00000400000000000000" pitchFamily="2" charset="-78"/>
              </a:rPr>
              <a:t>یادگیری جمعی (</a:t>
            </a:r>
            <a:r>
              <a:rPr lang="en-US" sz="2000" dirty="0" smtClean="0">
                <a:cs typeface="B Nazanin" panose="00000400000000000000" pitchFamily="2" charset="-78"/>
              </a:rPr>
              <a:t>Ensemble</a:t>
            </a:r>
            <a:r>
              <a:rPr lang="fa-IR" sz="2000" dirty="0" smtClean="0">
                <a:cs typeface="B Nazanin" panose="00000400000000000000" pitchFamily="2" charset="-78"/>
              </a:rPr>
              <a:t>): ترکیب پیش‌بینی‌های چندین مدل مختلف و تصمیم‌گیری بر اساس رأی‌گیری اکثریت</a:t>
            </a:r>
          </a:p>
          <a:p>
            <a:pPr algn="r" rtl="1">
              <a:lnSpc>
                <a:spcPct val="150000"/>
              </a:lnSpc>
            </a:pPr>
            <a:r>
              <a:rPr lang="fa-IR" sz="2000" dirty="0" smtClean="0">
                <a:cs typeface="B Nazanin" panose="00000400000000000000" pitchFamily="2" charset="-78"/>
              </a:rPr>
              <a:t>هدف: پوشش دادن نقاط ضعف یک مدل توسط مدل‌های دیگر و دستیابی به بالاترین دقت ممکن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8831" y="4367338"/>
            <a:ext cx="2865581" cy="205590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6193" y="4606724"/>
            <a:ext cx="5740576" cy="788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4713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Nazanin" panose="00000400000000000000" pitchFamily="2" charset="-78"/>
              </a:rPr>
              <a:t>مقایسه </a:t>
            </a:r>
            <a:r>
              <a:rPr lang="fa-IR" dirty="0" smtClean="0">
                <a:cs typeface="B Nazanin" panose="00000400000000000000" pitchFamily="2" charset="-78"/>
              </a:rPr>
              <a:t>نهایی:</a:t>
            </a:r>
            <a:endParaRPr lang="en-US" dirty="0">
              <a:cs typeface="B Nazanin" panose="00000400000000000000" pitchFamily="2" charset="-78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282495"/>
              </p:ext>
            </p:extLst>
          </p:nvPr>
        </p:nvGraphicFramePr>
        <p:xfrm>
          <a:off x="2286643" y="2097084"/>
          <a:ext cx="8127999" cy="362064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44196723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29802708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044265997"/>
                    </a:ext>
                  </a:extLst>
                </a:gridCol>
              </a:tblGrid>
              <a:tr h="530162">
                <a:tc>
                  <a:txBody>
                    <a:bodyPr/>
                    <a:lstStyle/>
                    <a:p>
                      <a:pPr algn="ctr" rtl="1"/>
                      <a:r>
                        <a:rPr lang="fa-IR" dirty="0" smtClean="0">
                          <a:cs typeface="B Nazanin" panose="00000400000000000000" pitchFamily="2" charset="-78"/>
                        </a:rPr>
                        <a:t>مناسب برای ...</a:t>
                      </a:r>
                      <a:endParaRPr lang="en-US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dirty="0" smtClean="0">
                          <a:cs typeface="B Nazanin" panose="00000400000000000000" pitchFamily="2" charset="-78"/>
                        </a:rPr>
                        <a:t>دقت</a:t>
                      </a:r>
                      <a:endParaRPr lang="en-US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dirty="0" smtClean="0">
                          <a:cs typeface="B Nazanin" panose="00000400000000000000" pitchFamily="2" charset="-78"/>
                        </a:rPr>
                        <a:t>روش تحلیل</a:t>
                      </a:r>
                      <a:endParaRPr lang="en-US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963274"/>
                  </a:ext>
                </a:extLst>
              </a:tr>
              <a:tr h="530162">
                <a:tc>
                  <a:txBody>
                    <a:bodyPr/>
                    <a:lstStyle/>
                    <a:p>
                      <a:pPr algn="r" rtl="1"/>
                      <a:r>
                        <a:rPr lang="fa-IR" dirty="0" smtClean="0">
                          <a:cs typeface="B Nazanin" panose="00000400000000000000" pitchFamily="2" charset="-78"/>
                        </a:rPr>
                        <a:t>تحلیل‌های سریع و ساده با</a:t>
                      </a:r>
                      <a:r>
                        <a:rPr lang="fa-IR" baseline="0" dirty="0" smtClean="0">
                          <a:cs typeface="B Nazanin" panose="00000400000000000000" pitchFamily="2" charset="-78"/>
                        </a:rPr>
                        <a:t> منابع کم</a:t>
                      </a:r>
                      <a:endParaRPr lang="en-US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dirty="0" smtClean="0">
                          <a:cs typeface="B Nazanin" panose="00000400000000000000" pitchFamily="2" charset="-78"/>
                        </a:rPr>
                        <a:t>%65</a:t>
                      </a:r>
                      <a:endParaRPr lang="en-US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dirty="0" smtClean="0">
                          <a:cs typeface="B Nazanin" panose="00000400000000000000" pitchFamily="2" charset="-78"/>
                        </a:rPr>
                        <a:t>لغت نامه</a:t>
                      </a:r>
                      <a:r>
                        <a:rPr lang="fa-IR" baseline="0" dirty="0" smtClean="0">
                          <a:cs typeface="B Nazanin" panose="00000400000000000000" pitchFamily="2" charset="-78"/>
                        </a:rPr>
                        <a:t> </a:t>
                      </a:r>
                      <a:endParaRPr lang="en-US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742773"/>
                  </a:ext>
                </a:extLst>
              </a:tr>
              <a:tr h="530162">
                <a:tc>
                  <a:txBody>
                    <a:bodyPr/>
                    <a:lstStyle/>
                    <a:p>
                      <a:pPr algn="r" rtl="1"/>
                      <a:r>
                        <a:rPr lang="fa-IR" dirty="0" smtClean="0">
                          <a:cs typeface="B Nazanin" panose="00000400000000000000" pitchFamily="2" charset="-78"/>
                        </a:rPr>
                        <a:t>مجموعه‌داده‌های کوچک و پردازش سریع</a:t>
                      </a:r>
                      <a:endParaRPr lang="en-US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dirty="0" smtClean="0">
                          <a:cs typeface="B Nazanin" panose="00000400000000000000" pitchFamily="2" charset="-78"/>
                        </a:rPr>
                        <a:t>%75 - %72</a:t>
                      </a:r>
                      <a:endParaRPr lang="en-US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dirty="0" smtClean="0">
                          <a:cs typeface="B Nazanin" panose="00000400000000000000" pitchFamily="2" charset="-78"/>
                        </a:rPr>
                        <a:t>یادگیری ماشین (</a:t>
                      </a:r>
                      <a:r>
                        <a:rPr lang="en-US" dirty="0" smtClean="0">
                          <a:cs typeface="B Nazanin" panose="00000400000000000000" pitchFamily="2" charset="-78"/>
                        </a:rPr>
                        <a:t>SVM</a:t>
                      </a:r>
                      <a:r>
                        <a:rPr lang="fa-IR" baseline="0" dirty="0" smtClean="0">
                          <a:cs typeface="B Nazanin" panose="00000400000000000000" pitchFamily="2" charset="-78"/>
                        </a:rPr>
                        <a:t>، </a:t>
                      </a:r>
                      <a:r>
                        <a:rPr lang="en-US" baseline="0" dirty="0" smtClean="0">
                          <a:cs typeface="B Nazanin" panose="00000400000000000000" pitchFamily="2" charset="-78"/>
                        </a:rPr>
                        <a:t>NB</a:t>
                      </a:r>
                      <a:r>
                        <a:rPr lang="fa-IR" baseline="0" dirty="0" smtClean="0">
                          <a:cs typeface="B Nazanin" panose="00000400000000000000" pitchFamily="2" charset="-78"/>
                        </a:rPr>
                        <a:t>)</a:t>
                      </a:r>
                      <a:endParaRPr lang="en-US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404607"/>
                  </a:ext>
                </a:extLst>
              </a:tr>
              <a:tr h="530162">
                <a:tc>
                  <a:txBody>
                    <a:bodyPr/>
                    <a:lstStyle/>
                    <a:p>
                      <a:pPr algn="r" rtl="1"/>
                      <a:r>
                        <a:rPr lang="fa-IR" dirty="0" smtClean="0">
                          <a:cs typeface="B Nazanin" panose="00000400000000000000" pitchFamily="2" charset="-78"/>
                        </a:rPr>
                        <a:t>تحلیل جملات طولانی</a:t>
                      </a:r>
                      <a:r>
                        <a:rPr lang="fa-IR" baseline="0" dirty="0" smtClean="0">
                          <a:cs typeface="B Nazanin" panose="00000400000000000000" pitchFamily="2" charset="-78"/>
                        </a:rPr>
                        <a:t> و داده‌های پیچیده</a:t>
                      </a:r>
                      <a:endParaRPr lang="en-US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dirty="0" smtClean="0">
                          <a:cs typeface="B Nazanin" panose="00000400000000000000" pitchFamily="2" charset="-78"/>
                        </a:rPr>
                        <a:t>%81 - %78</a:t>
                      </a:r>
                      <a:endParaRPr lang="en-US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dirty="0" smtClean="0">
                          <a:cs typeface="B Nazanin" panose="00000400000000000000" pitchFamily="2" charset="-78"/>
                        </a:rPr>
                        <a:t>یادگیری عمیق (</a:t>
                      </a:r>
                      <a:r>
                        <a:rPr lang="en-US" dirty="0" smtClean="0">
                          <a:cs typeface="B Nazanin" panose="00000400000000000000" pitchFamily="2" charset="-78"/>
                        </a:rPr>
                        <a:t>CNN</a:t>
                      </a:r>
                      <a:r>
                        <a:rPr lang="fa-IR" dirty="0" smtClean="0">
                          <a:cs typeface="B Nazanin" panose="00000400000000000000" pitchFamily="2" charset="-78"/>
                        </a:rPr>
                        <a:t>، </a:t>
                      </a:r>
                      <a:r>
                        <a:rPr lang="en-US" dirty="0" smtClean="0">
                          <a:cs typeface="B Nazanin" panose="00000400000000000000" pitchFamily="2" charset="-78"/>
                        </a:rPr>
                        <a:t>LSTM</a:t>
                      </a:r>
                      <a:r>
                        <a:rPr lang="fa-IR" dirty="0" smtClean="0">
                          <a:cs typeface="B Nazanin" panose="00000400000000000000" pitchFamily="2" charset="-78"/>
                        </a:rPr>
                        <a:t>)</a:t>
                      </a:r>
                      <a:endParaRPr lang="en-US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458553"/>
                  </a:ext>
                </a:extLst>
              </a:tr>
              <a:tr h="530162">
                <a:tc>
                  <a:txBody>
                    <a:bodyPr/>
                    <a:lstStyle/>
                    <a:p>
                      <a:pPr algn="r" rtl="1"/>
                      <a:r>
                        <a:rPr lang="fa-IR" dirty="0" smtClean="0">
                          <a:cs typeface="B Nazanin" panose="00000400000000000000" pitchFamily="2" charset="-78"/>
                        </a:rPr>
                        <a:t>بالاترین دقت</a:t>
                      </a:r>
                      <a:r>
                        <a:rPr lang="fa-IR" baseline="0" dirty="0" smtClean="0">
                          <a:cs typeface="B Nazanin" panose="00000400000000000000" pitchFamily="2" charset="-78"/>
                        </a:rPr>
                        <a:t> در درک معنا و بافت متن</a:t>
                      </a:r>
                      <a:endParaRPr lang="en-US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dirty="0" smtClean="0">
                          <a:cs typeface="B Nazanin" panose="00000400000000000000" pitchFamily="2" charset="-78"/>
                        </a:rPr>
                        <a:t>%88</a:t>
                      </a:r>
                      <a:endParaRPr lang="en-US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dirty="0" smtClean="0">
                          <a:cs typeface="B Nazanin" panose="00000400000000000000" pitchFamily="2" charset="-78"/>
                        </a:rPr>
                        <a:t>ترنسفورمر (</a:t>
                      </a:r>
                      <a:r>
                        <a:rPr lang="en-US" dirty="0" smtClean="0">
                          <a:cs typeface="B Nazanin" panose="00000400000000000000" pitchFamily="2" charset="-78"/>
                        </a:rPr>
                        <a:t>BERT</a:t>
                      </a:r>
                      <a:r>
                        <a:rPr lang="fa-IR" dirty="0" smtClean="0">
                          <a:cs typeface="B Nazanin" panose="00000400000000000000" pitchFamily="2" charset="-78"/>
                        </a:rPr>
                        <a:t>)</a:t>
                      </a:r>
                      <a:endParaRPr lang="en-US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90919"/>
                  </a:ext>
                </a:extLst>
              </a:tr>
              <a:tr h="530162">
                <a:tc>
                  <a:txBody>
                    <a:bodyPr/>
                    <a:lstStyle/>
                    <a:p>
                      <a:pPr algn="r" rtl="1"/>
                      <a:r>
                        <a:rPr lang="fa-IR" dirty="0" smtClean="0">
                          <a:cs typeface="B Nazanin" panose="00000400000000000000" pitchFamily="2" charset="-78"/>
                        </a:rPr>
                        <a:t>پروژه‌هایی</a:t>
                      </a:r>
                      <a:r>
                        <a:rPr lang="fa-IR" baseline="0" dirty="0" smtClean="0">
                          <a:cs typeface="B Nazanin" panose="00000400000000000000" pitchFamily="2" charset="-78"/>
                        </a:rPr>
                        <a:t> که دقت در آنها اولویت اول است</a:t>
                      </a:r>
                      <a:endParaRPr lang="en-US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dirty="0" smtClean="0">
                          <a:cs typeface="B Nazanin" panose="00000400000000000000" pitchFamily="2" charset="-78"/>
                        </a:rPr>
                        <a:t>تا %98.9</a:t>
                      </a:r>
                      <a:endParaRPr lang="en-US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dirty="0" smtClean="0">
                          <a:cs typeface="B Nazanin" panose="00000400000000000000" pitchFamily="2" charset="-78"/>
                        </a:rPr>
                        <a:t>یادگیری جمعی و ترکیبی</a:t>
                      </a:r>
                      <a:endParaRPr lang="en-US" dirty="0">
                        <a:cs typeface="B Nazanin" panose="0000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3828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40138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 smtClean="0">
                <a:cs typeface="B Nazanin" panose="00000400000000000000" pitchFamily="2" charset="-78"/>
              </a:rPr>
              <a:t>چالش‌های باقی‌مانده:</a:t>
            </a:r>
            <a:endParaRPr lang="en-US" dirty="0">
              <a:cs typeface="B Nazanin" panose="00000400000000000000" pitchFamily="2" charset="-78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6094412" y="1863822"/>
            <a:ext cx="0" cy="41148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rot="5400000" flipH="1">
            <a:off x="6094412" y="-650778"/>
            <a:ext cx="0" cy="9144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921" y="4238267"/>
            <a:ext cx="1400174" cy="132765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190" y="2183362"/>
            <a:ext cx="1285325" cy="12853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921" y="2074506"/>
            <a:ext cx="1400174" cy="13716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167" y="4238267"/>
            <a:ext cx="1327654" cy="132765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80412" y="2186472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400" b="1" dirty="0" smtClean="0">
                <a:cs typeface="B Nazanin" panose="00000400000000000000" pitchFamily="2" charset="-78"/>
              </a:rPr>
              <a:t>تشخیص کنایه‌ها</a:t>
            </a:r>
            <a:endParaRPr lang="en-US" sz="2400" b="1" dirty="0">
              <a:cs typeface="B Nazanin" panose="00000400000000000000" pitchFamily="2" charset="-78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01464" y="2186472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400" b="1" dirty="0" smtClean="0">
                <a:cs typeface="B Nazanin" panose="00000400000000000000" pitchFamily="2" charset="-78"/>
              </a:rPr>
              <a:t>چند زبانگی</a:t>
            </a:r>
            <a:endParaRPr lang="en-US" sz="2400" b="1" dirty="0">
              <a:cs typeface="B Nazanin" panose="00000400000000000000" pitchFamily="2" charset="-7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80412" y="4306247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400" b="1" dirty="0" smtClean="0">
                <a:cs typeface="B Nazanin" panose="00000400000000000000" pitchFamily="2" charset="-78"/>
              </a:rPr>
              <a:t>هزینه مجموعه‌داده‌ها</a:t>
            </a:r>
            <a:endParaRPr lang="en-US" sz="2400" b="1" dirty="0">
              <a:cs typeface="B Nazanin" panose="00000400000000000000" pitchFamily="2" charset="-78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01464" y="4306247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400" b="1" dirty="0" smtClean="0">
                <a:cs typeface="B Nazanin" panose="00000400000000000000" pitchFamily="2" charset="-78"/>
              </a:rPr>
              <a:t>تحلیل دقیق</a:t>
            </a:r>
            <a:endParaRPr lang="en-US" sz="2400" b="1" dirty="0">
              <a:cs typeface="B Nazanin" panose="00000400000000000000" pitchFamily="2" charset="-78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53292" y="2685989"/>
            <a:ext cx="25131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dirty="0" smtClean="0">
                <a:cs typeface="B Nazanin" panose="00000400000000000000" pitchFamily="2" charset="-78"/>
              </a:rPr>
              <a:t>مدل‌ها در تشخیص معنای باطنی جملات و زبان محاوره مشکل دارند.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52318" y="4767912"/>
            <a:ext cx="26140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dirty="0" smtClean="0">
                <a:cs typeface="B Nazanin" panose="00000400000000000000" pitchFamily="2" charset="-78"/>
              </a:rPr>
              <a:t>ساخت دیتاست‌های به اندازه کافی بزرگ برای همه زبان‌ها توسط انسان هزینه زیادی دارد.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74344" y="2680712"/>
            <a:ext cx="25131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dirty="0" smtClean="0">
                <a:cs typeface="B Nazanin" panose="00000400000000000000" pitchFamily="2" charset="-78"/>
              </a:rPr>
              <a:t>تمرکز بیشتر بر زبان انگلیسی شده‌ است و تفاوت‌های فرهنگی در نظر گرفته نشده است.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74344" y="4767911"/>
            <a:ext cx="25131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dirty="0" smtClean="0">
                <a:cs typeface="B Nazanin" panose="00000400000000000000" pitchFamily="2" charset="-78"/>
              </a:rPr>
              <a:t>مدل‌ها در تشخیص دقیق احساس و شدت آن به اندازه کافی تکامل نیافتند.</a:t>
            </a:r>
            <a:endParaRPr lang="en-US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448347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 smtClean="0">
                <a:cs typeface="B Nazanin" panose="00000400000000000000" pitchFamily="2" charset="-78"/>
              </a:rPr>
              <a:t>مسیرهای پیش‌رو: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25961" y="2097088"/>
            <a:ext cx="799633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fa-IR" sz="2000" dirty="0" smtClean="0">
                <a:cs typeface="B Nazanin" panose="00000400000000000000" pitchFamily="2" charset="-78"/>
              </a:rPr>
              <a:t>تحلیل احساسات دقیق فراتر از قطبیت</a:t>
            </a:r>
          </a:p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fa-IR" sz="2000" dirty="0" smtClean="0">
                <a:cs typeface="B Nazanin" panose="00000400000000000000" pitchFamily="2" charset="-78"/>
              </a:rPr>
              <a:t>سبک‌سازی مدل‌ها برای اجرا بر روی موبایل</a:t>
            </a:r>
          </a:p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fa-IR" sz="2000" dirty="0" smtClean="0">
                <a:cs typeface="B Nazanin" panose="00000400000000000000" pitchFamily="2" charset="-78"/>
              </a:rPr>
              <a:t>فراهم کردن امکان یادگیری بدون نظارت</a:t>
            </a:r>
          </a:p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fa-IR" sz="2000" dirty="0" smtClean="0">
                <a:cs typeface="B Nazanin" panose="00000400000000000000" pitchFamily="2" charset="-78"/>
              </a:rPr>
              <a:t>تحلیل احساسات چندرسانه‌ای</a:t>
            </a:r>
          </a:p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fa-IR" sz="2000" dirty="0" smtClean="0">
                <a:cs typeface="B Nazanin" panose="00000400000000000000" pitchFamily="2" charset="-78"/>
              </a:rPr>
              <a:t>بهبود تفسیرپذیری و شفاف‌سازی فرایند</a:t>
            </a:r>
          </a:p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fa-IR" sz="2000" dirty="0" smtClean="0">
                <a:cs typeface="B Nazanin" panose="00000400000000000000" pitchFamily="2" charset="-78"/>
              </a:rPr>
              <a:t>شناسایی طعنه‌ و ابهام‌ها</a:t>
            </a:r>
          </a:p>
          <a:p>
            <a:pPr marL="342900" indent="-342900" algn="r" rtl="1">
              <a:lnSpc>
                <a:spcPct val="150000"/>
              </a:lnSpc>
              <a:buFont typeface="+mj-lt"/>
              <a:buAutoNum type="arabicPeriod"/>
            </a:pPr>
            <a:r>
              <a:rPr lang="fa-IR" sz="2000" dirty="0" smtClean="0">
                <a:cs typeface="B Nazanin" panose="00000400000000000000" pitchFamily="2" charset="-78"/>
              </a:rPr>
              <a:t>بهبود عملکرد برای همه فرهنگ‌ها</a:t>
            </a:r>
          </a:p>
        </p:txBody>
      </p:sp>
    </p:spTree>
    <p:extLst>
      <p:ext uri="{BB962C8B-B14F-4D97-AF65-F5344CB8AC3E}">
        <p14:creationId xmlns:p14="http://schemas.microsoft.com/office/powerpoint/2010/main" val="31249011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 smtClean="0">
                <a:cs typeface="B Nazanin" panose="00000400000000000000" pitchFamily="2" charset="-78"/>
              </a:rPr>
              <a:t>نتیجه‌گیری: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91782" y="1863823"/>
            <a:ext cx="940525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 smtClean="0">
                <a:cs typeface="B Nazanin" panose="00000400000000000000" pitchFamily="2" charset="-78"/>
              </a:rPr>
              <a:t>تحلیل احساسات پلی حیاتی میان زبان غیرساختارمند انسان و تصمیم‌گیری‌های هوشمند تجاری و سیاسی است.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 smtClean="0">
                <a:cs typeface="B Nazanin" panose="00000400000000000000" pitchFamily="2" charset="-78"/>
              </a:rPr>
              <a:t>این حوزه از روش‌های سنتی مبتنی بر لغت‌نامه و ماشین‌بردار پشتیبان به سمت مدل‌های پیشرفته یادگیری عمیق مانند </a:t>
            </a:r>
            <a:r>
              <a:rPr lang="en-US" sz="2000" dirty="0" smtClean="0">
                <a:cs typeface="B Nazanin" panose="00000400000000000000" pitchFamily="2" charset="-78"/>
              </a:rPr>
              <a:t>BERT</a:t>
            </a:r>
            <a:r>
              <a:rPr lang="fa-IR" sz="2000" dirty="0" smtClean="0">
                <a:cs typeface="B Nazanin" panose="00000400000000000000" pitchFamily="2" charset="-78"/>
              </a:rPr>
              <a:t> و </a:t>
            </a:r>
            <a:r>
              <a:rPr lang="en-US" sz="2000" dirty="0" smtClean="0">
                <a:cs typeface="B Nazanin" panose="00000400000000000000" pitchFamily="2" charset="-78"/>
              </a:rPr>
              <a:t>LSTM</a:t>
            </a:r>
            <a:r>
              <a:rPr lang="fa-IR" sz="2000" dirty="0" smtClean="0">
                <a:cs typeface="B Nazanin" panose="00000400000000000000" pitchFamily="2" charset="-78"/>
              </a:rPr>
              <a:t> حرکت کرده که دقت را به شکل چشم‌گیری افزایش داده‌اند.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 smtClean="0">
                <a:cs typeface="B Nazanin" panose="00000400000000000000" pitchFamily="2" charset="-78"/>
              </a:rPr>
              <a:t>قدرت مدل‌های ترکیبی: مدل‌های </a:t>
            </a:r>
            <a:r>
              <a:rPr lang="en-US" sz="2000" dirty="0" smtClean="0">
                <a:cs typeface="B Nazanin" panose="00000400000000000000" pitchFamily="2" charset="-78"/>
              </a:rPr>
              <a:t>Ensemble</a:t>
            </a:r>
            <a:r>
              <a:rPr lang="fa-IR" sz="2000" dirty="0" smtClean="0">
                <a:cs typeface="B Nazanin" panose="00000400000000000000" pitchFamily="2" charset="-78"/>
              </a:rPr>
              <a:t> که چندین الگوریتم را با هم ترکیب می‌کنند، در حال حاضر بهترین عملکرد را در بنچمارک‌های جهانی دارند.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 smtClean="0">
                <a:cs typeface="B Nazanin" panose="00000400000000000000" pitchFamily="2" charset="-78"/>
              </a:rPr>
              <a:t>با وجود پیشرفت‌ها، مدل‌های فعلی هنوز در درک زبان عامیانه، کنایه و ساختارهای پیچیده زبانی با محدودیت‌هایی روبرو هستند.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 smtClean="0">
                <a:cs typeface="B Nazanin" panose="00000400000000000000" pitchFamily="2" charset="-78"/>
              </a:rPr>
              <a:t>آینده این حوزه در گرو ساخت مدل‌های تفسیرپذیرتر، سبک‌تر و چندزبانه است تا بتوان در دنیای واقعی و با منابع محدود، تحلیل‌های دقیق‌تری ارائه داد.</a:t>
            </a:r>
          </a:p>
        </p:txBody>
      </p:sp>
    </p:spTree>
    <p:extLst>
      <p:ext uri="{BB962C8B-B14F-4D97-AF65-F5344CB8AC3E}">
        <p14:creationId xmlns:p14="http://schemas.microsoft.com/office/powerpoint/2010/main" val="37021535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Nazanin" panose="00000400000000000000" pitchFamily="2" charset="-78"/>
              </a:rPr>
              <a:t>محدوده پوشش </a:t>
            </a:r>
            <a:r>
              <a:rPr lang="fa-IR" dirty="0" smtClean="0">
                <a:cs typeface="B Nazanin" panose="00000400000000000000" pitchFamily="2" charset="-78"/>
              </a:rPr>
              <a:t>ارائه: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1782" y="1782798"/>
            <a:ext cx="940525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fa-IR" sz="2000" dirty="0" smtClean="0">
                <a:cs typeface="B Nazanin" panose="00000400000000000000" pitchFamily="2" charset="-78"/>
              </a:rPr>
              <a:t>این ارائه بخش عمده‌ای از مباحث پایه و پیشرفته‌ی تحلیل احساسات را پوشش می‌دهد، از جمله: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 smtClean="0">
                <a:cs typeface="B Nazanin" panose="00000400000000000000" pitchFamily="2" charset="-78"/>
              </a:rPr>
              <a:t>تعریف مسئله و سطوح مختلف تحلیل احساسات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 smtClean="0">
                <a:cs typeface="B Nazanin" panose="00000400000000000000" pitchFamily="2" charset="-78"/>
              </a:rPr>
              <a:t>رویکردهای مبتنی بر لغت‌نامه، یادگیری ماشین، یادگیری عمیق و ترنسفورمرها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 smtClean="0">
                <a:cs typeface="B Nazanin" panose="00000400000000000000" pitchFamily="2" charset="-78"/>
              </a:rPr>
              <a:t>بررسی چالش‌ها و مسیرهای آینده این حوزه</a:t>
            </a:r>
          </a:p>
          <a:p>
            <a:pPr algn="r" rtl="1">
              <a:lnSpc>
                <a:spcPct val="150000"/>
              </a:lnSpc>
            </a:pPr>
            <a:r>
              <a:rPr lang="fa-IR" sz="2000" dirty="0" smtClean="0">
                <a:cs typeface="B Nazanin" panose="00000400000000000000" pitchFamily="2" charset="-78"/>
              </a:rPr>
              <a:t>در این ارائه تمرکز اصلی بر تحلیل احساسات متنی بوده و موضوعاتی مانند موارد زیر مورد  بررسی قرار نگرفته‌اند: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 smtClean="0">
                <a:cs typeface="B Nazanin" panose="00000400000000000000" pitchFamily="2" charset="-78"/>
              </a:rPr>
              <a:t>تحلیل احساسات چندرسانه‌ای (صوت و تصویر)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 smtClean="0">
                <a:cs typeface="B Nazanin" panose="00000400000000000000" pitchFamily="2" charset="-78"/>
              </a:rPr>
              <a:t>تحلیل بر خط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 smtClean="0">
                <a:cs typeface="B Nazanin" panose="00000400000000000000" pitchFamily="2" charset="-78"/>
              </a:rPr>
              <a:t>تحلیل و پیاده‌سازی صنعتی در مقیاس بزرگ</a:t>
            </a:r>
          </a:p>
          <a:p>
            <a:pPr algn="r" rtl="1">
              <a:lnSpc>
                <a:spcPct val="150000"/>
              </a:lnSpc>
            </a:pPr>
            <a:r>
              <a:rPr lang="fa-IR" sz="2000" b="1" dirty="0" smtClean="0">
                <a:cs typeface="B Nazanin" panose="00000400000000000000" pitchFamily="2" charset="-78"/>
              </a:rPr>
              <a:t>تحلیل احساسات کاربران فارسی‌زبان در شبکه اجتماعی توییتر و مقایسه با احساس واقعی آن‌ها</a:t>
            </a:r>
            <a:r>
              <a:rPr lang="fa-IR" sz="2000" dirty="0" smtClean="0">
                <a:cs typeface="B Nazanin" panose="00000400000000000000" pitchFamily="2" charset="-78"/>
              </a:rPr>
              <a:t>، نمونه‌ای کاربردی از وظایف طبقه‌بندی و درک معنا بوده و به‌طور مستقیم زیرمجموعه حوزه تحلیل احساسات محسوب می‌شود.</a:t>
            </a:r>
          </a:p>
        </p:txBody>
      </p:sp>
    </p:spTree>
    <p:extLst>
      <p:ext uri="{BB962C8B-B14F-4D97-AF65-F5344CB8AC3E}">
        <p14:creationId xmlns:p14="http://schemas.microsoft.com/office/powerpoint/2010/main" val="39930150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348</TotalTime>
  <Words>1062</Words>
  <Application>Microsoft Office PowerPoint</Application>
  <PresentationFormat>Widescreen</PresentationFormat>
  <Paragraphs>95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B Nazanin</vt:lpstr>
      <vt:lpstr>Calibri</vt:lpstr>
      <vt:lpstr>Courier New</vt:lpstr>
      <vt:lpstr>Trebuchet MS</vt:lpstr>
      <vt:lpstr>Tw Cen MT</vt:lpstr>
      <vt:lpstr>Circuit</vt:lpstr>
      <vt:lpstr>تحلیل احساسات</vt:lpstr>
      <vt:lpstr>معرفی حوزه</vt:lpstr>
      <vt:lpstr>کاربردهای عملی تحلیل احساسات</vt:lpstr>
      <vt:lpstr>رویکردهای پیشنهادی:</vt:lpstr>
      <vt:lpstr>روش‌های مبتنی بر لغت‌نامه:</vt:lpstr>
      <vt:lpstr>یادگیری ماشین سنتی:</vt:lpstr>
      <vt:lpstr>یادگیری عمیق:</vt:lpstr>
      <vt:lpstr>مدل‌های مبتنی بر ترنسفورمر:</vt:lpstr>
      <vt:lpstr>مدل‌های ترکیبی و یادگیری جمعی:</vt:lpstr>
      <vt:lpstr>مقایسه نهایی:</vt:lpstr>
      <vt:lpstr>چالش‌های باقی‌مانده:</vt:lpstr>
      <vt:lpstr>مسیرهای پیش‌رو:</vt:lpstr>
      <vt:lpstr>نتیجه‌گیری:</vt:lpstr>
      <vt:lpstr>محدوده پوشش ارائه: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تحلیل احساسات</dc:title>
  <dc:creator>SA</dc:creator>
  <cp:lastModifiedBy>SA</cp:lastModifiedBy>
  <cp:revision>21</cp:revision>
  <dcterms:created xsi:type="dcterms:W3CDTF">2026-01-30T07:14:21Z</dcterms:created>
  <dcterms:modified xsi:type="dcterms:W3CDTF">2026-01-30T13:03:00Z</dcterms:modified>
</cp:coreProperties>
</file>